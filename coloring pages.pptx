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4" r:id="rId3"/>
    <p:sldId id="257" r:id="rId4"/>
    <p:sldId id="258" r:id="rId5"/>
    <p:sldId id="260" r:id="rId6"/>
    <p:sldId id="263" r:id="rId7"/>
    <p:sldId id="261" r:id="rId8"/>
    <p:sldId id="262" r:id="rId9"/>
  </p:sldIdLst>
  <p:sldSz cx="6858000" cy="9144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59" d="100"/>
          <a:sy n="59" d="100"/>
        </p:scale>
        <p:origin x="26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south@student.ubc.ca" userId="3344f196-8ab9-4834-9059-bbda4fce93de" providerId="ADAL" clId="{EFD19C8D-299C-46B6-9B9E-2CE478BED8CA}"/>
    <pc:docChg chg="undo redo custSel addSld delSld modSld sldOrd modMainMaster">
      <pc:chgData name="lsouth@student.ubc.ca" userId="3344f196-8ab9-4834-9059-bbda4fce93de" providerId="ADAL" clId="{EFD19C8D-299C-46B6-9B9E-2CE478BED8CA}" dt="2026-02-13T23:13:32.598" v="1751" actId="208"/>
      <pc:docMkLst>
        <pc:docMk/>
      </pc:docMkLst>
      <pc:sldChg chg="addSp delSp modSp new mod ord">
        <pc:chgData name="lsouth@student.ubc.ca" userId="3344f196-8ab9-4834-9059-bbda4fce93de" providerId="ADAL" clId="{EFD19C8D-299C-46B6-9B9E-2CE478BED8CA}" dt="2026-02-13T23:13:32.598" v="1751" actId="208"/>
        <pc:sldMkLst>
          <pc:docMk/>
          <pc:sldMk cId="2389330225" sldId="263"/>
        </pc:sldMkLst>
        <pc:picChg chg="add mod">
          <ac:chgData name="lsouth@student.ubc.ca" userId="3344f196-8ab9-4834-9059-bbda4fce93de" providerId="ADAL" clId="{EFD19C8D-299C-46B6-9B9E-2CE478BED8CA}" dt="2026-02-13T23:13:32.598" v="1751" actId="208"/>
          <ac:picMkLst>
            <pc:docMk/>
            <pc:sldMk cId="2389330225" sldId="263"/>
            <ac:picMk id="8" creationId="{9262872E-AF0F-F691-962F-1B278AC5A2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4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9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0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0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8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1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9CA0D-3870-4B47-8F3E-E87ACDC2A7F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23434-E67D-4F36-999E-9DE010CC1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2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87B77D-2009-E23D-35FF-61F7FF8CD115}"/>
              </a:ext>
            </a:extLst>
          </p:cNvPr>
          <p:cNvSpPr txBox="1"/>
          <p:nvPr/>
        </p:nvSpPr>
        <p:spPr>
          <a:xfrm>
            <a:off x="109728" y="304800"/>
            <a:ext cx="3962400" cy="450858"/>
          </a:xfrm>
          <a:prstGeom prst="rect">
            <a:avLst/>
          </a:prstGeom>
        </p:spPr>
        <p:txBody>
          <a:bodyPr vert="horz" lIns="21699" tIns="10850" rIns="21699" bIns="1085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43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Apicomplexa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5F238-221A-B876-A846-2B4F908AD8EC}"/>
              </a:ext>
            </a:extLst>
          </p:cNvPr>
          <p:cNvSpPr txBox="1"/>
          <p:nvPr/>
        </p:nvSpPr>
        <p:spPr>
          <a:xfrm>
            <a:off x="3195682" y="107863"/>
            <a:ext cx="36876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“</a:t>
            </a:r>
            <a:r>
              <a:rPr lang="en-US" sz="1200" b="1" dirty="0"/>
              <a:t>Apis</a:t>
            </a:r>
            <a:r>
              <a:rPr lang="en-US" sz="1200" dirty="0"/>
              <a:t>” are a lineage of </a:t>
            </a:r>
            <a:r>
              <a:rPr lang="en-US" sz="1200" b="1" dirty="0"/>
              <a:t>parasites</a:t>
            </a:r>
            <a:r>
              <a:rPr lang="en-US" sz="1200" dirty="0"/>
              <a:t> and </a:t>
            </a:r>
            <a:r>
              <a:rPr lang="en-US" sz="1200" b="1" dirty="0" err="1"/>
              <a:t>symbiotonts</a:t>
            </a:r>
            <a:r>
              <a:rPr lang="en-US" sz="1200" b="1" dirty="0"/>
              <a:t> </a:t>
            </a:r>
            <a:r>
              <a:rPr lang="en-US" sz="1200" dirty="0"/>
              <a:t>to many animals. Though they need a host, they share ancestry with free-living photosynthetic algae. </a:t>
            </a:r>
          </a:p>
          <a:p>
            <a:endParaRPr lang="en-US" sz="1200" dirty="0"/>
          </a:p>
          <a:p>
            <a:r>
              <a:rPr lang="en-US" sz="1200" i="1" dirty="0"/>
              <a:t>Plasmodium falciparum </a:t>
            </a:r>
            <a:r>
              <a:rPr lang="en-US" sz="1200" dirty="0"/>
              <a:t>(which causes malaria) and </a:t>
            </a:r>
            <a:r>
              <a:rPr lang="en-US" sz="1200" i="1" dirty="0"/>
              <a:t>Toxoplasma gondii </a:t>
            </a:r>
            <a:r>
              <a:rPr lang="en-US" sz="1200" dirty="0"/>
              <a:t>(which causes Toxoplasmosis) are both Apicomplexa that can infect people.</a:t>
            </a:r>
          </a:p>
          <a:p>
            <a:endParaRPr lang="en-US" sz="1200" dirty="0"/>
          </a:p>
          <a:p>
            <a:r>
              <a:rPr lang="en-US" sz="1200" i="1" dirty="0"/>
              <a:t>Toxoplasma </a:t>
            </a:r>
            <a:r>
              <a:rPr lang="en-US" sz="1200" dirty="0"/>
              <a:t>can cause changes in the behavior of the mice they infect, making them less fearful of cats.</a:t>
            </a:r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ECF61-47CA-AA77-1CF0-144FBEE2AE17}"/>
              </a:ext>
            </a:extLst>
          </p:cNvPr>
          <p:cNvSpPr txBox="1"/>
          <p:nvPr/>
        </p:nvSpPr>
        <p:spPr>
          <a:xfrm>
            <a:off x="2672514" y="2767276"/>
            <a:ext cx="1512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This structure allows these parasites to enter their hosts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325493-3448-83AE-3B8B-5BDD0FD11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" y="938860"/>
            <a:ext cx="5510463" cy="82051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B32AD6-D443-997D-A054-59BAEE401E20}"/>
              </a:ext>
            </a:extLst>
          </p:cNvPr>
          <p:cNvSpPr txBox="1"/>
          <p:nvPr/>
        </p:nvSpPr>
        <p:spPr>
          <a:xfrm>
            <a:off x="4311050" y="5195059"/>
            <a:ext cx="2546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This structure is a chloroplast which has lost its function of photosynthesis. The ancestor of all Apicomplexa gained its </a:t>
            </a:r>
            <a:r>
              <a:rPr lang="en-US" sz="1200" b="1" dirty="0" err="1"/>
              <a:t>apicoplast</a:t>
            </a:r>
            <a:r>
              <a:rPr lang="en-US" sz="1200" dirty="0"/>
              <a:t> from a </a:t>
            </a:r>
            <a:r>
              <a:rPr lang="en-US" sz="1200" b="1" dirty="0"/>
              <a:t>Red Algae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4C566F-C877-E3A6-07D1-A4AA68EB3116}"/>
              </a:ext>
            </a:extLst>
          </p:cNvPr>
          <p:cNvSpPr txBox="1"/>
          <p:nvPr/>
        </p:nvSpPr>
        <p:spPr>
          <a:xfrm>
            <a:off x="4271348" y="2416187"/>
            <a:ext cx="2586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D1C1D"/>
                </a:solidFill>
                <a:latin typeface="Slack-Lato"/>
              </a:rPr>
              <a:t>Dactylosoma</a:t>
            </a:r>
            <a:r>
              <a:rPr lang="en-US" sz="1200" i="1" dirty="0">
                <a:solidFill>
                  <a:srgbClr val="1D1C1D"/>
                </a:solidFill>
                <a:latin typeface="Slack-Lato"/>
              </a:rPr>
              <a:t> </a:t>
            </a:r>
            <a:r>
              <a:rPr lang="en-US" sz="1200" i="1" dirty="0" err="1">
                <a:solidFill>
                  <a:srgbClr val="1D1C1D"/>
                </a:solidFill>
                <a:latin typeface="Slack-Lato"/>
              </a:rPr>
              <a:t>kermiti</a:t>
            </a:r>
            <a:r>
              <a:rPr lang="en-US" sz="1200" dirty="0">
                <a:solidFill>
                  <a:srgbClr val="1D1C1D"/>
                </a:solidFill>
                <a:latin typeface="Slack-Lato"/>
              </a:rPr>
              <a:t>, an apicomplexan that infects frogs was named after Kermit the Frog!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4252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3A23CF-4419-26B2-E316-7273908252D3}"/>
              </a:ext>
            </a:extLst>
          </p:cNvPr>
          <p:cNvSpPr txBox="1"/>
          <p:nvPr/>
        </p:nvSpPr>
        <p:spPr>
          <a:xfrm>
            <a:off x="136478" y="423081"/>
            <a:ext cx="3879100" cy="450858"/>
          </a:xfrm>
          <a:prstGeom prst="rect">
            <a:avLst/>
          </a:prstGeom>
        </p:spPr>
        <p:txBody>
          <a:bodyPr vert="horz" lIns="21699" tIns="10850" rIns="21699" bIns="1085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43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Dinoflagellate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232BE-C626-038B-EB10-7CD084DD4569}"/>
              </a:ext>
            </a:extLst>
          </p:cNvPr>
          <p:cNvSpPr txBox="1"/>
          <p:nvPr/>
        </p:nvSpPr>
        <p:spPr>
          <a:xfrm>
            <a:off x="3289110" y="129688"/>
            <a:ext cx="3568890" cy="1180498"/>
          </a:xfrm>
          <a:prstGeom prst="roundRect">
            <a:avLst>
              <a:gd name="adj" fmla="val 8192"/>
            </a:avLst>
          </a:prstGeom>
        </p:spPr>
        <p:txBody>
          <a:bodyPr vert="horz" lIns="21699" tIns="10850" rIns="21699" bIns="10850" rtlCol="0">
            <a:noAutofit/>
          </a:bodyPr>
          <a:lstStyle/>
          <a:p>
            <a:pPr>
              <a:lnSpc>
                <a:spcPct val="90000"/>
              </a:lnSpc>
              <a:spcAft>
                <a:spcPts val="143"/>
              </a:spcAft>
            </a:pPr>
            <a:r>
              <a:rPr lang="en-US" sz="1200" dirty="0"/>
              <a:t>“</a:t>
            </a:r>
            <a:r>
              <a:rPr lang="en-US" sz="1200" b="1" dirty="0"/>
              <a:t>Dinos</a:t>
            </a:r>
            <a:r>
              <a:rPr lang="en-US" sz="1200" dirty="0"/>
              <a:t>” live in marine and freshwater environments. Some are </a:t>
            </a:r>
            <a:r>
              <a:rPr lang="en-US" sz="1200" b="1" dirty="0"/>
              <a:t>mixotrophic</a:t>
            </a:r>
            <a:r>
              <a:rPr lang="en-US" sz="1200" dirty="0"/>
              <a:t> (photosynthetic AND capture prey), and some are completely non-photosynthetic. The photosynthetic taxa are important </a:t>
            </a:r>
            <a:r>
              <a:rPr lang="en-US" sz="1200" b="1" dirty="0"/>
              <a:t>phytoplankton</a:t>
            </a:r>
            <a:r>
              <a:rPr lang="en-US" sz="1200" dirty="0"/>
              <a:t> which produce oxygen. </a:t>
            </a:r>
          </a:p>
          <a:p>
            <a:pPr>
              <a:lnSpc>
                <a:spcPct val="90000"/>
              </a:lnSpc>
              <a:spcAft>
                <a:spcPts val="143"/>
              </a:spcAft>
            </a:pPr>
            <a:endParaRPr lang="en-US" sz="12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B421DE7-5029-29CE-2B37-FDD9D4A7A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8" y="2756848"/>
            <a:ext cx="6595808" cy="53956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66D27C-FB69-223A-106B-BF1B3D4A65EA}"/>
              </a:ext>
            </a:extLst>
          </p:cNvPr>
          <p:cNvSpPr txBox="1"/>
          <p:nvPr/>
        </p:nvSpPr>
        <p:spPr>
          <a:xfrm>
            <a:off x="0" y="1180980"/>
            <a:ext cx="6858000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143"/>
              </a:spcAft>
            </a:pPr>
            <a:r>
              <a:rPr lang="en-US" sz="1200" dirty="0"/>
              <a:t>Some species are </a:t>
            </a:r>
            <a:r>
              <a:rPr lang="en-US" sz="1200" b="1" dirty="0"/>
              <a:t>bioluminescent</a:t>
            </a:r>
            <a:r>
              <a:rPr lang="en-US" sz="1200" dirty="0"/>
              <a:t> and can be seen at night glowing in water, even here in Vancouver! </a:t>
            </a:r>
          </a:p>
          <a:p>
            <a:pPr>
              <a:lnSpc>
                <a:spcPct val="90000"/>
              </a:lnSpc>
              <a:spcAft>
                <a:spcPts val="143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143"/>
              </a:spcAft>
            </a:pPr>
            <a:r>
              <a:rPr lang="en-US" sz="1200" dirty="0"/>
              <a:t>Some other species are toxic and can cause </a:t>
            </a:r>
            <a:r>
              <a:rPr lang="en-US" sz="1200" b="1" dirty="0"/>
              <a:t>red tide </a:t>
            </a:r>
            <a:r>
              <a:rPr lang="en-US" sz="1200" dirty="0"/>
              <a:t>when there is an algal bloom. And some dinoflagellates are parasitic to other organisms.</a:t>
            </a:r>
          </a:p>
          <a:p>
            <a:pPr>
              <a:lnSpc>
                <a:spcPct val="90000"/>
              </a:lnSpc>
              <a:spcAft>
                <a:spcPts val="143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143"/>
              </a:spcAft>
            </a:pPr>
            <a:r>
              <a:rPr lang="en-US" sz="1200" b="1" dirty="0"/>
              <a:t>Zooxanthellae</a:t>
            </a:r>
            <a:r>
              <a:rPr lang="en-US" sz="1200" dirty="0"/>
              <a:t> are dinoflagellate photosynthetic symbionts found in corals.</a:t>
            </a:r>
          </a:p>
        </p:txBody>
      </p:sp>
    </p:spTree>
    <p:extLst>
      <p:ext uri="{BB962C8B-B14F-4D97-AF65-F5344CB8AC3E}">
        <p14:creationId xmlns:p14="http://schemas.microsoft.com/office/powerpoint/2010/main" val="29592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67B39A-6C20-B53E-4AC9-ABE41E29D57D}"/>
              </a:ext>
            </a:extLst>
          </p:cNvPr>
          <p:cNvSpPr txBox="1"/>
          <p:nvPr/>
        </p:nvSpPr>
        <p:spPr>
          <a:xfrm>
            <a:off x="0" y="820326"/>
            <a:ext cx="6858000" cy="1532334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/>
              <a:t>"</a:t>
            </a:r>
            <a:r>
              <a:rPr lang="en-US" sz="1200" b="1" dirty="0" err="1"/>
              <a:t>Forams</a:t>
            </a:r>
            <a:r>
              <a:rPr lang="en-US" sz="1200" dirty="0"/>
              <a:t>“ are amoeboid predators of the ocean!</a:t>
            </a:r>
          </a:p>
          <a:p>
            <a:endParaRPr lang="en-US" sz="1200" dirty="0"/>
          </a:p>
          <a:p>
            <a:r>
              <a:rPr lang="en-US" sz="1200" i="1" dirty="0" err="1"/>
              <a:t>Baclogypsina</a:t>
            </a:r>
            <a:r>
              <a:rPr lang="en-US" sz="1200" i="1" dirty="0"/>
              <a:t> </a:t>
            </a:r>
            <a:r>
              <a:rPr lang="en-US" sz="1200" i="1" dirty="0" err="1"/>
              <a:t>sphaerulata</a:t>
            </a:r>
            <a:r>
              <a:rPr lang="en-US" sz="1200" i="1" dirty="0"/>
              <a:t> </a:t>
            </a:r>
            <a:r>
              <a:rPr lang="en-US" sz="1200" dirty="0"/>
              <a:t>is the species that make star sand (star-shaped </a:t>
            </a:r>
            <a:r>
              <a:rPr lang="en-US" sz="1200" b="1" dirty="0"/>
              <a:t>exoskeletons</a:t>
            </a:r>
            <a:r>
              <a:rPr lang="en-US" sz="1200" dirty="0"/>
              <a:t> which can be seen with the naked eye!)</a:t>
            </a:r>
          </a:p>
          <a:p>
            <a:endParaRPr lang="en-US" sz="1200" dirty="0"/>
          </a:p>
          <a:p>
            <a:r>
              <a:rPr lang="en-US" sz="1200" dirty="0" err="1"/>
              <a:t>Xenophyophorea</a:t>
            </a:r>
            <a:r>
              <a:rPr lang="en-US" sz="1200" dirty="0"/>
              <a:t> is a </a:t>
            </a:r>
            <a:r>
              <a:rPr lang="en-US" sz="1200" b="1" dirty="0"/>
              <a:t>clade</a:t>
            </a:r>
            <a:r>
              <a:rPr lang="en-US" sz="1200" dirty="0"/>
              <a:t> of large, </a:t>
            </a:r>
            <a:r>
              <a:rPr lang="en-US" sz="1200" b="1" dirty="0"/>
              <a:t>multinucleated</a:t>
            </a:r>
            <a:r>
              <a:rPr lang="en-US" sz="1200" dirty="0"/>
              <a:t> foraminifera that look like sea sponges, but are actually one massive cell!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C5B23-CDFE-295B-01A1-CFE09AD2007E}"/>
              </a:ext>
            </a:extLst>
          </p:cNvPr>
          <p:cNvSpPr/>
          <p:nvPr/>
        </p:nvSpPr>
        <p:spPr>
          <a:xfrm>
            <a:off x="3122072" y="3872489"/>
            <a:ext cx="613857" cy="137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7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99F9D-1BF6-9C37-D685-BC944E7A88BB}"/>
              </a:ext>
            </a:extLst>
          </p:cNvPr>
          <p:cNvSpPr txBox="1"/>
          <p:nvPr/>
        </p:nvSpPr>
        <p:spPr>
          <a:xfrm>
            <a:off x="126049" y="342172"/>
            <a:ext cx="3135943" cy="450858"/>
          </a:xfrm>
          <a:prstGeom prst="rect">
            <a:avLst/>
          </a:prstGeom>
        </p:spPr>
        <p:txBody>
          <a:bodyPr vert="horz" lIns="21699" tIns="10850" rIns="21699" bIns="1085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43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Foraminiferan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C4511-ED17-616D-59E2-D20A49CBCD5B}"/>
              </a:ext>
            </a:extLst>
          </p:cNvPr>
          <p:cNvSpPr txBox="1"/>
          <p:nvPr/>
        </p:nvSpPr>
        <p:spPr>
          <a:xfrm>
            <a:off x="3735929" y="2640563"/>
            <a:ext cx="31220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Tests are microscopic shells that can be made of a variety of materials based on the species. Some are secreted calcium carbonate, organic material, or can be </a:t>
            </a:r>
            <a:r>
              <a:rPr lang="en-US" sz="1200" b="1" dirty="0"/>
              <a:t>agglutinated</a:t>
            </a:r>
            <a:r>
              <a:rPr lang="en-US" sz="1200" dirty="0"/>
              <a:t> sand.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983BF-4CC1-8A1D-0D39-B84CC6353CEB}"/>
              </a:ext>
            </a:extLst>
          </p:cNvPr>
          <p:cNvSpPr txBox="1"/>
          <p:nvPr/>
        </p:nvSpPr>
        <p:spPr>
          <a:xfrm>
            <a:off x="0" y="8261126"/>
            <a:ext cx="495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Forams</a:t>
            </a:r>
            <a:r>
              <a:rPr lang="en-US" sz="1200" dirty="0"/>
              <a:t> use their long, sticky </a:t>
            </a:r>
            <a:r>
              <a:rPr lang="en-US" sz="1200" b="1" dirty="0"/>
              <a:t>pseudopodia</a:t>
            </a:r>
            <a:r>
              <a:rPr lang="en-US" sz="1200" dirty="0"/>
              <a:t> to capture prey.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7BA27C-0EDC-FAE0-5015-B6EA855B9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" y="3728314"/>
            <a:ext cx="6799217" cy="453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4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80A2F1-7024-8F44-2D85-19A9E4389279}"/>
              </a:ext>
            </a:extLst>
          </p:cNvPr>
          <p:cNvSpPr txBox="1"/>
          <p:nvPr/>
        </p:nvSpPr>
        <p:spPr>
          <a:xfrm>
            <a:off x="-6531" y="659867"/>
            <a:ext cx="6673056" cy="919401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Ciliates</a:t>
            </a:r>
            <a:r>
              <a:rPr lang="en-US" sz="1200" dirty="0"/>
              <a:t> are predators of the microbial world and exhibit feeding behavior</a:t>
            </a:r>
          </a:p>
          <a:p>
            <a:endParaRPr lang="en-US" sz="1200" dirty="0"/>
          </a:p>
          <a:p>
            <a:r>
              <a:rPr lang="en-US" sz="1200" dirty="0"/>
              <a:t>Some cells are large enough to see with the naked eye!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0BFF2-217C-7034-B76F-37D715ED94F0}"/>
              </a:ext>
            </a:extLst>
          </p:cNvPr>
          <p:cNvSpPr txBox="1"/>
          <p:nvPr/>
        </p:nvSpPr>
        <p:spPr>
          <a:xfrm>
            <a:off x="191475" y="209009"/>
            <a:ext cx="2589857" cy="450858"/>
          </a:xfrm>
          <a:prstGeom prst="rect">
            <a:avLst/>
          </a:prstGeom>
        </p:spPr>
        <p:txBody>
          <a:bodyPr vert="horz" lIns="21699" tIns="10850" rIns="21699" bIns="1085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43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Ciliate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98CCE-B009-C0BA-C53B-32C047781138}"/>
              </a:ext>
            </a:extLst>
          </p:cNvPr>
          <p:cNvSpPr txBox="1"/>
          <p:nvPr/>
        </p:nvSpPr>
        <p:spPr>
          <a:xfrm>
            <a:off x="5163670" y="4516451"/>
            <a:ext cx="16589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Ciliates have two types of nuclei (the </a:t>
            </a:r>
            <a:r>
              <a:rPr lang="en-US" sz="1200" b="1" dirty="0"/>
              <a:t>macronucleus</a:t>
            </a:r>
            <a:r>
              <a:rPr lang="en-US" sz="1200" dirty="0"/>
              <a:t> and </a:t>
            </a:r>
            <a:r>
              <a:rPr lang="en-US" sz="1200" b="1" dirty="0"/>
              <a:t>micronucleus</a:t>
            </a:r>
            <a:r>
              <a:rPr lang="en-US" sz="12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36EA2-7D99-6EE7-AB4C-80E75E311A04}"/>
              </a:ext>
            </a:extLst>
          </p:cNvPr>
          <p:cNvSpPr txBox="1"/>
          <p:nvPr/>
        </p:nvSpPr>
        <p:spPr>
          <a:xfrm>
            <a:off x="4577954" y="6459186"/>
            <a:ext cx="14806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Ciliates eat their prey through their mouth-like </a:t>
            </a:r>
            <a:r>
              <a:rPr lang="en-US" sz="1200" b="1" dirty="0"/>
              <a:t>cytostome</a:t>
            </a:r>
            <a:r>
              <a:rPr lang="en-US" sz="1200" dirty="0"/>
              <a:t> and eject their waste through their anal pore (</a:t>
            </a:r>
            <a:r>
              <a:rPr lang="en-US" sz="1200" b="1" dirty="0"/>
              <a:t>cytoproct</a:t>
            </a:r>
            <a:r>
              <a:rPr lang="en-US" sz="1200" dirty="0"/>
              <a:t>)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11D0D9F-D462-C2F6-0B3A-B07F707C2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41419"/>
            <a:ext cx="5728446" cy="7549869"/>
          </a:xfrm>
          <a:prstGeom prst="rect">
            <a:avLst/>
          </a:prstGeom>
        </p:spPr>
      </p:pic>
      <p:sp>
        <p:nvSpPr>
          <p:cNvPr id="19" name="Right Brace 18">
            <a:extLst>
              <a:ext uri="{FF2B5EF4-FFF2-40B4-BE49-F238E27FC236}">
                <a16:creationId xmlns:a16="http://schemas.microsoft.com/office/drawing/2014/main" id="{D2A6214B-2039-D385-55DF-5EFD5BDF7A5A}"/>
              </a:ext>
            </a:extLst>
          </p:cNvPr>
          <p:cNvSpPr/>
          <p:nvPr/>
        </p:nvSpPr>
        <p:spPr>
          <a:xfrm>
            <a:off x="4937761" y="4636168"/>
            <a:ext cx="199784" cy="575912"/>
          </a:xfrm>
          <a:prstGeom prst="rightBrace">
            <a:avLst>
              <a:gd name="adj1" fmla="val 35099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60D30522-D5FF-C96D-C46E-BB83E66F3A27}"/>
              </a:ext>
            </a:extLst>
          </p:cNvPr>
          <p:cNvSpPr/>
          <p:nvPr/>
        </p:nvSpPr>
        <p:spPr>
          <a:xfrm>
            <a:off x="4378170" y="6331284"/>
            <a:ext cx="199784" cy="1657684"/>
          </a:xfrm>
          <a:prstGeom prst="rightBrace">
            <a:avLst>
              <a:gd name="adj1" fmla="val 35099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2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B1C7B4-BB40-409C-FA8E-B2268EF52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382" y="304800"/>
            <a:ext cx="6702618" cy="873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2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5DF31A-069B-B35E-8DF6-466BDB78B36B}"/>
              </a:ext>
            </a:extLst>
          </p:cNvPr>
          <p:cNvSpPr txBox="1"/>
          <p:nvPr/>
        </p:nvSpPr>
        <p:spPr>
          <a:xfrm>
            <a:off x="2744490" y="378823"/>
            <a:ext cx="4139636" cy="1328023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True slime molds </a:t>
            </a:r>
            <a:r>
              <a:rPr lang="en-US" sz="1200" dirty="0"/>
              <a:t>(</a:t>
            </a:r>
            <a:r>
              <a:rPr lang="en-US" sz="1200" dirty="0" err="1"/>
              <a:t>Myxogastria</a:t>
            </a:r>
            <a:r>
              <a:rPr lang="en-US" sz="1200" dirty="0"/>
              <a:t>)</a:t>
            </a:r>
            <a:r>
              <a:rPr lang="en-US" sz="1200" b="1" dirty="0"/>
              <a:t> </a:t>
            </a:r>
            <a:r>
              <a:rPr lang="en-US" sz="1200" dirty="0"/>
              <a:t>are a type of social amoeba that have a unicellular life stage (shown), a multi-nucleated “plasmodial” life stage, and a multicellular stage where millions of individuals will come together to form fruiting bodies. </a:t>
            </a:r>
          </a:p>
          <a:p>
            <a:endParaRPr lang="en-US" sz="12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62872E-AF0F-F691-962F-1B278AC5A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63" y="26126"/>
            <a:ext cx="6858000" cy="83712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557D17-BD49-0986-43C0-15088FAB35A5}"/>
              </a:ext>
            </a:extLst>
          </p:cNvPr>
          <p:cNvSpPr txBox="1"/>
          <p:nvPr/>
        </p:nvSpPr>
        <p:spPr>
          <a:xfrm>
            <a:off x="4545874" y="7601948"/>
            <a:ext cx="2285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Myxogastrids</a:t>
            </a:r>
            <a:r>
              <a:rPr lang="en-US" sz="1200" dirty="0"/>
              <a:t> are considered “</a:t>
            </a:r>
            <a:r>
              <a:rPr lang="en-US" sz="1200" b="1" dirty="0" err="1"/>
              <a:t>amoeboflagellates</a:t>
            </a:r>
            <a:r>
              <a:rPr lang="en-US" sz="1200" dirty="0"/>
              <a:t>”, moving using both </a:t>
            </a:r>
            <a:r>
              <a:rPr lang="en-US" sz="1200" b="1" dirty="0"/>
              <a:t>flagella</a:t>
            </a:r>
            <a:r>
              <a:rPr lang="en-US" sz="1200" dirty="0"/>
              <a:t> and amoeboid movement.</a:t>
            </a:r>
          </a:p>
        </p:txBody>
      </p:sp>
    </p:spTree>
    <p:extLst>
      <p:ext uri="{BB962C8B-B14F-4D97-AF65-F5344CB8AC3E}">
        <p14:creationId xmlns:p14="http://schemas.microsoft.com/office/powerpoint/2010/main" val="238933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2041B2-7871-980C-8C89-D5D373A53AE8}"/>
              </a:ext>
            </a:extLst>
          </p:cNvPr>
          <p:cNvSpPr txBox="1"/>
          <p:nvPr/>
        </p:nvSpPr>
        <p:spPr>
          <a:xfrm rot="16200000">
            <a:off x="-2771202" y="3080843"/>
            <a:ext cx="7694023" cy="1532334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Diatoms</a:t>
            </a:r>
            <a:r>
              <a:rPr lang="en-US" sz="1200" dirty="0"/>
              <a:t> are photosynthetic algae that have </a:t>
            </a:r>
            <a:r>
              <a:rPr lang="en-US" sz="1200" b="1" dirty="0"/>
              <a:t>silica</a:t>
            </a:r>
            <a:r>
              <a:rPr lang="en-US" sz="1200" dirty="0"/>
              <a:t> (glass) shells called </a:t>
            </a:r>
            <a:r>
              <a:rPr lang="en-US" sz="1200" b="1" dirty="0"/>
              <a:t>frustules. </a:t>
            </a:r>
            <a:r>
              <a:rPr lang="en-US" sz="1200" dirty="0"/>
              <a:t>These organisms are very common in marine and freshwater environments.</a:t>
            </a:r>
          </a:p>
          <a:p>
            <a:endParaRPr lang="en-US" sz="1200" dirty="0"/>
          </a:p>
          <a:p>
            <a:r>
              <a:rPr lang="en-US" sz="1200" dirty="0"/>
              <a:t>Diatoms come in a variety of shapes, sizes, and colors. Some people make art with Diatom frustules making complex mosaics.</a:t>
            </a:r>
          </a:p>
          <a:p>
            <a:endParaRPr lang="en-US" sz="1200" dirty="0"/>
          </a:p>
          <a:p>
            <a:r>
              <a:rPr lang="en-US" sz="1200" dirty="0"/>
              <a:t>Diatomaceous earth is made from diatom frustules and used for pest control  without chemicals.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B314B5A-FDF8-D9A9-ED7C-39C2BDA48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496022" y="2099219"/>
            <a:ext cx="9072588" cy="500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1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77B7F-BD5C-6BFC-F65C-4C975B85977B}"/>
              </a:ext>
            </a:extLst>
          </p:cNvPr>
          <p:cNvSpPr txBox="1"/>
          <p:nvPr/>
        </p:nvSpPr>
        <p:spPr>
          <a:xfrm rot="16200000">
            <a:off x="-851868" y="1239061"/>
            <a:ext cx="3806143" cy="1328023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 err="1"/>
              <a:t>Parabasalia</a:t>
            </a:r>
            <a:r>
              <a:rPr lang="en-US" sz="1200" b="1" dirty="0"/>
              <a:t> </a:t>
            </a:r>
            <a:r>
              <a:rPr lang="en-US" sz="1200" dirty="0"/>
              <a:t>live in anerobic environments. Their mitochondria have evolved into </a:t>
            </a:r>
            <a:r>
              <a:rPr lang="en-US" sz="1200" b="1" dirty="0" err="1"/>
              <a:t>hydrogenosomes</a:t>
            </a:r>
            <a:r>
              <a:rPr lang="en-US" sz="1200" dirty="0"/>
              <a:t> which generate ATP anaerobically (without oxygen)</a:t>
            </a:r>
          </a:p>
          <a:p>
            <a:endParaRPr lang="en-US" sz="1200" b="1" dirty="0"/>
          </a:p>
          <a:p>
            <a:r>
              <a:rPr lang="en-US" sz="1200" dirty="0"/>
              <a:t>Termites have </a:t>
            </a:r>
            <a:r>
              <a:rPr lang="en-US" sz="1200" dirty="0" err="1"/>
              <a:t>parabasalian</a:t>
            </a:r>
            <a:r>
              <a:rPr lang="en-US" sz="1200" dirty="0"/>
              <a:t> symbionts in their digestive tract to help with the digestion of wood.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F1E58-4F5C-2E70-947C-F79534AED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99"/>
          <a:stretch>
            <a:fillRect/>
          </a:stretch>
        </p:blipFill>
        <p:spPr>
          <a:xfrm rot="16200000">
            <a:off x="-634416" y="1753040"/>
            <a:ext cx="8444883" cy="653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1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3255</TotalTime>
  <Words>523</Words>
  <Application>Microsoft Office PowerPoint</Application>
  <PresentationFormat>Letter Paper (8.5x11 in)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Slack-Lato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lsouth@student.ubc.ca</dc:creator>
  <cp:lastModifiedBy>Lilith South</cp:lastModifiedBy>
  <cp:revision>1</cp:revision>
  <cp:lastPrinted>2024-10-31T22:45:27Z</cp:lastPrinted>
  <dcterms:created xsi:type="dcterms:W3CDTF">2024-10-31T19:11:15Z</dcterms:created>
  <dcterms:modified xsi:type="dcterms:W3CDTF">2026-02-13T23:14:03Z</dcterms:modified>
</cp:coreProperties>
</file>